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1005840" cy="-548640"/>
          </a:xfrm>
          <a:prstGeom prst="line">
            <a:avLst/>
          </a:prstGeom>
          <a:noFill/>
          <a:ln w="19050">
            <a:solidFill>
              <a:srgbClr val="1E46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4572000"/>
            <a:ext cx="731520" cy="822960"/>
          </a:xfrm>
          <a:prstGeom prst="line">
            <a:avLst/>
          </a:prstGeom>
          <a:noFill/>
          <a:ln w="19050">
            <a:solidFill>
              <a:srgbClr val="1E4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5120640"/>
            <a:ext cx="640080" cy="822960"/>
          </a:xfrm>
          <a:prstGeom prst="line">
            <a:avLst/>
          </a:prstGeom>
          <a:noFill/>
          <a:ln w="19050">
            <a:solidFill>
              <a:srgbClr val="1E4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4572000"/>
            <a:ext cx="822960" cy="-365760"/>
          </a:xfrm>
          <a:prstGeom prst="line">
            <a:avLst/>
          </a:prstGeom>
          <a:noFill/>
          <a:ln w="19050">
            <a:solidFill>
              <a:srgbClr val="1E46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5943600"/>
            <a:ext cx="-1005840" cy="91440"/>
          </a:xfrm>
          <a:prstGeom prst="line">
            <a:avLst/>
          </a:prstGeom>
          <a:noFill/>
          <a:ln w="19050">
            <a:solidFill>
              <a:srgbClr val="1E46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5120640"/>
            <a:ext cx="-365760" cy="914400"/>
          </a:xfrm>
          <a:prstGeom prst="line">
            <a:avLst/>
          </a:prstGeom>
          <a:noFill/>
          <a:ln w="19050">
            <a:solidFill>
              <a:srgbClr val="1E4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0" y="507492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10652760" y="452628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534924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287000" y="589788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75720" y="416052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9281160" y="598932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COMPAGNIA THETA S.P.A.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8745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Progettazione, Testing e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Sicurezza Infrastrutturale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— Team 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8" name="Image 0" descr="/home/claude/icons/networ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017770"/>
            <a:ext cx="251460" cy="2514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44752" y="4873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host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44752" y="5148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piani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37560" y="489204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2" name="Image 1" descr="/home/claude/icons/shiel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290" y="5017770"/>
            <a:ext cx="251460" cy="2514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959352" y="4873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firewall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959352" y="5148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perimetrale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852160" y="489204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6" name="Image 2" descr="/home/claude/icons/bug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890" y="5017770"/>
            <a:ext cx="251460" cy="2514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73952" y="4873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sistemi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473952" y="5148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366760" y="489204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30" name="Image 3" descr="/home/claude/icons/serve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490" y="5017770"/>
            <a:ext cx="251460" cy="2514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988552" y="4873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+ NAS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988552" y="5148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centralizzato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 ·  Python  ·  pfSense  ·  Kali Linux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OPERATIVO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Obiettivi e Requisiti del Progetto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Progettazione e testing dell'infrastruttura di rete per un edificio aziendale moderno strutturato su 6 piani, con l'obiettivo di garantire scalabilità, servizi centralizzati e una difesa perimetrale solida, validata sia a livello logico che in ambiente reale.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5212080" cy="2606040"/>
          </a:xfrm>
          <a:prstGeom prst="roundRect">
            <a:avLst>
              <a:gd name="adj" fmla="val 3509"/>
            </a:avLst>
          </a:prstGeom>
          <a:solidFill>
            <a:srgbClr val="0A1930"/>
          </a:solidFill>
          <a:ln/>
          <a:effectLst>
            <a:outerShdw sx="100000" sy="100000" kx="0" ky="0" algn="bl" rotWithShape="0" blurRad="101600" dist="38100" dir="2700000">
              <a:srgbClr val="0A19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4005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totali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4005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 / 20 PC ciascuno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5148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IDS / IPS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4617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0" y="51480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di validazione: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+ pfSense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508760"/>
            <a:ext cx="5532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828800"/>
            <a:ext cx="566928" cy="566928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6" name="Image 0" descr="/home/claude/icons/server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2639" y="1956359"/>
            <a:ext cx="311810" cy="31181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86600" y="1673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Critici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86600" y="2011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pubblico (DVWA / Metasploitable) in DMZ e sistema di storage centralizzato (NAS).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080760" y="3136392"/>
            <a:ext cx="5532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55080" y="3456432"/>
            <a:ext cx="566928" cy="566928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1" name="Image 1" descr="/home/claude/icons/shiel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639" y="3583991"/>
            <a:ext cx="311810" cy="31181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86600" y="330098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086600" y="36393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perimetrale integrato con 3 sistemi IDS/IPS per il monitoraggio del traffico.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080760" y="4764024"/>
            <a:ext cx="55321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55080" y="5084064"/>
            <a:ext cx="566928" cy="566928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6" name="Image 2" descr="/home/claude/icons/cog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639" y="5211623"/>
            <a:ext cx="311810" cy="31181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86600" y="4928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di Validazione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7086600" y="526694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Modellazione logica su Cisco Packet Tracer, verifica a basso livello con script Python e ambiente reale pfSense.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E TOPOLOGIA LOGICA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Ottimizzazione del Design per la Scalabilità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garantire la leggibilità dello schema, i 20 PC di ogni piano sono stati raggruppati simbolicamente in un unico “PC rappresentativo” collegato allo switch di piano.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514600"/>
            <a:ext cx="685800" cy="68580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7" name="Image 0" descr="/home/claude/icons/clou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977" y="266890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4023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 tramite una Cloud-PT.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38144" y="22402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2514600"/>
            <a:ext cx="685800" cy="68580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12" name="Image 1" descr="/home/claude/icons/rout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81" y="266890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3364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Centrale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94176" y="4023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 routing inter-piano e instradamento del traffico.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27648" y="22402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2514600"/>
            <a:ext cx="685800" cy="68580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17" name="Image 2" descr="/home/claude/icons/sitemap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85" y="266890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3364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Switch di Piano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83680" y="4023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apparato di switching dedicato per ciascun piano dell'edificio.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217152" y="22402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73184" y="2514600"/>
            <a:ext cx="685800" cy="68580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22" name="Image 3" descr="/home/claude/icons/bug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489" y="266890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73184" y="3364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Moduli IDS/IPS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473184" y="4023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Posizionati in punti strategici della LAN (router dedicati, per superare i limiti di Packet Tracer).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LOGICA · CISCO PACKET TRACER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Perimetro: Firewall, DMZ e IDS/IPS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06440" y="1508760"/>
            <a:ext cx="5852160" cy="4709160"/>
          </a:xfrm>
          <a:prstGeom prst="roundRect">
            <a:avLst>
              <a:gd name="adj" fmla="val 1553"/>
            </a:avLst>
          </a:prstGeom>
          <a:solidFill>
            <a:srgbClr val="FBFC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2700000">
              <a:srgbClr val="0A1930">
                <a:alpha val="10000"/>
              </a:srgbClr>
            </a:outerShdw>
          </a:effectLst>
        </p:spPr>
      </p:sp>
      <p:pic>
        <p:nvPicPr>
          <p:cNvPr id="5" name="Image 0" descr="/home/claude/imgs/img-004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89796"/>
            <a:ext cx="5989320" cy="37470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7" name="Image 1" descr="/home/claude/icons/shiel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16573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152704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Perimetrale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70432" y="181051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linea di filtraggio: il traffico da Internet impatta qui prima di raggiungere la rete.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1" name="Image 2" descr="/home/claude/icons/server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2690622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5603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70432" y="284378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separata dove risiede il Web Server (DVWA/Metasploitable), accessibile da Internet senza esporre la LAN.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5" name="Image 3" descr="/home/claude/icons/loc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3723894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359359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Interno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70432" y="387705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fisicamente e logicamente la DMZ dalla rete interna aziendale.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48640" y="4654296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9" name="Image 4" descr="/home/claude/icons/bug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4757166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70432" y="462686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170432" y="491032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Monitorano il traffico di rete e aiutano a rilevare o bloccare intrusioni.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LOGICA · CISCO PACKET TRACER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 Interna Aziendale: Piani e 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FBFC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2700000">
              <a:srgbClr val="0A1930">
                <a:alpha val="10000"/>
              </a:srgbClr>
            </a:outerShdw>
          </a:effectLst>
        </p:spPr>
      </p:sp>
      <p:pic>
        <p:nvPicPr>
          <p:cNvPr id="5" name="Image 0" descr="/home/claude/imgs/img-005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4299"/>
            <a:ext cx="4160520" cy="47580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57800" y="15544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rete interna contiene i dispositivi dei 6 piani, il NAS aziendale e i sistemi di controllo IDS/IPS.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57800" y="2194560"/>
            <a:ext cx="6309360" cy="1234440"/>
          </a:xfrm>
          <a:prstGeom prst="roundRect">
            <a:avLst>
              <a:gd name="adj" fmla="val 6667"/>
            </a:avLst>
          </a:prstGeom>
          <a:solidFill>
            <a:srgbClr val="0A1930"/>
          </a:solidFill>
          <a:ln/>
          <a:effectLst>
            <a:outerShdw sx="100000" sy="100000" kx="0" ky="0" algn="bl" rotWithShape="0" blurRad="101600" dist="38100" dir="2700000">
              <a:srgbClr val="0A193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 aziendali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8952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58952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per piano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69264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692640" y="2834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totali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57800" y="3657600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5" name="Image 1" descr="/home/claude/icons/datab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670" y="376047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79592" y="36301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Aziendale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879592" y="39136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Archivio dati condiviso, raggiungibile da tutti i computer aziendali.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57800" y="4498848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9" name="Image 2" descr="/home/claude/icons/sitemap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670" y="460171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79592" y="44714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Switch 2960-24TT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879592" y="4754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switch dedicato per piano, in cascata verso il router centrale.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257800" y="5340096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23" name="Image 3" descr="/home/claude/icons/ey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670" y="5442966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79592" y="531266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Distribuzione Piani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879592" y="55961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dedicato al monitoraggio del traffico proveniente dai piani.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DIFESA IN PROFONDITÀ E SEGMENTAZIONE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Struttura delle Tre Zone di Sicurezza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rete è stata suddivisa in tre zone logiche distinte, applicando i rigidi principi della difesa a strati.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5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0" y="2377440"/>
            <a:ext cx="594360" cy="59436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8" name="Image 0" descr="/home/claude/icons/clou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4131" y="2511171"/>
            <a:ext cx="326898" cy="326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Esterna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4672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" y="384048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ingresso del traffico. Le connessioni impattano inizialmente sul firewall perimetrale, deputato al filtraggio preventivo.</a:t>
            </a:r>
            <a:endParaRPr lang="en-US" sz="1100" dirty="0"/>
          </a:p>
        </p:txBody>
      </p:sp>
      <p:pic>
        <p:nvPicPr>
          <p:cNvPr id="12" name="Image 1" descr="/home/claude/icons/arrowrigh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384048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34840" y="214884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6344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5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7086600" y="2377440"/>
            <a:ext cx="594360" cy="59436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16" name="Image 2" descr="/home/claude/icons/server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331" y="25111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90872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690872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Demilitarizzata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90872" y="384048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isolato che ospita il Web Server: raggiungibile dall'esterno senza esporre o compromettere i sistemi interni della LAN.</a:t>
            </a:r>
            <a:endParaRPr lang="en-US" sz="1100" dirty="0"/>
          </a:p>
        </p:txBody>
      </p:sp>
      <p:pic>
        <p:nvPicPr>
          <p:cNvPr id="20" name="Image 3" descr="/home/claude/icons/arrowrigh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3840480"/>
            <a:ext cx="320040" cy="3200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321040" y="214884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54964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5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Shape 17"/>
          <p:cNvSpPr/>
          <p:nvPr/>
        </p:nvSpPr>
        <p:spPr>
          <a:xfrm>
            <a:off x="10972800" y="2377440"/>
            <a:ext cx="594360" cy="59436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24" name="Image 4" descr="/home/claude/icons/building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6531" y="2511171"/>
            <a:ext cx="326898" cy="32689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577072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 Interna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577072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Aziendale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577072" y="384048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Separata dalla DMZ tramite un secondo firewall interno. Cuore dell'azienda: router centrale, NAS e postazioni dei dipendenti.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DI RETE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Piano di Indirizzamento IP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834640"/>
        </p:xfrm>
        <a:graphic>
          <a:graphicData uri="http://schemas.openxmlformats.org/drawingml/2006/table">
            <a:tbl>
              <a:tblPr/>
              <a:tblGrid>
                <a:gridCol w="2834640"/>
                <a:gridCol w="2651760"/>
                <a:gridCol w="5577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Dispositivo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Indirizzo IP / Subnet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Ruolo e Funzione Aziendale</a:t>
                      </a:r>
                      <a:endParaRPr lang="en-US" sz="125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LAN Client (Piani)</a:t>
                      </a:r>
                      <a:endParaRPr lang="en-US" sz="12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192.168.10.0 /24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Segmento di rete per i dipendenti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Router Centrale</a:t>
                      </a:r>
                      <a:endParaRPr lang="en-US" sz="12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Gateway predefinito per la rete interna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NAS Aziendale</a:t>
                      </a:r>
                      <a:endParaRPr lang="en-US" sz="12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Risorsa di storage condivisa, raggiungibile da tutta la LAN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</a:rPr>
                        <a:t>Web Server (DMZ)</a:t>
                      </a:r>
                      <a:endParaRPr lang="en-US" sz="12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172.16.10.10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7083"/>
                          </a:solidFill>
                        </a:rPr>
                        <a:t>Server esposto — Gateway: 172.16.10.1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7F6FA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cod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5050917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029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delle Interfacce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Tutti gli indirizzi IP sono stati configurati sulle rispettive interfacce e resi operativi mediante comandi CLI standard (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shutdown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FASE LOGICA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Validazione della Connettività Interna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stabilità e la raggiungibilità dei nodi critici della LAN sono state verificate con successo mediante test di ping, avviati dal computer del piano terra.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7" name="Image 0" descr="/home/claude/icons/rout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4905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del Gateway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2679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192.168.10.1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pacchetti persi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40280" y="310896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 il corretto instradamento verso il Router Centrale.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4343400"/>
            <a:ext cx="4892040" cy="15087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14" name="Image 1" descr="/home/claude/imgs/img-008-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0120" y="4434840"/>
            <a:ext cx="4617720" cy="1325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17920" y="214884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2377440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7" name="Image 2" descr="/home/claude/icons/databas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97" y="249059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2377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dello Storage (NAS)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132320" y="2679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192.168.10.100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9224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49224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pacchetti persi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909560" y="310896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che il NAS è pienamente operativo e accessibile dai client.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92240" y="4343400"/>
            <a:ext cx="4892040" cy="150876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24" name="Image 3" descr="/home/claude/imgs/img-009-00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29400" y="4434840"/>
            <a:ext cx="4617720" cy="1325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AMBIENTE REALE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 Linux e Metasploitable2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condurre test di sicurezza approfonditi e aderenti alla realtà, lo scenario è stato riprodotto in un ambiente di virtualizzazione dedicato.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7" name="Image 0" descr="/home/claude/icons/usersecre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3991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12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Macchina Attaccante / Auditor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13" name="Image 1" descr="/home/claude/icons/bug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157" y="239915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212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Macchina Target (Web Server)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172.16.10.101</a:t>
            </a:r>
            <a:endParaRPr lang="en-US" sz="1200" dirty="0"/>
          </a:p>
        </p:txBody>
      </p:sp>
      <p:pic>
        <p:nvPicPr>
          <p:cNvPr id="17" name="Image 2" descr="/home/claude/icons/arrowrigh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22860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preliminare: il superamento dei test di ping bidirezionali ha validato l'interconnessione logica tra le due reti virtuali distinte.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553212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</p:spPr>
      </p:sp>
      <p:pic>
        <p:nvPicPr>
          <p:cNvPr id="20" name="Image 3" descr="/home/claude/imgs/trim_img-011-00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85800" y="3886200"/>
            <a:ext cx="5257800" cy="19659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" y="58795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IP · Metasploitable2 (ifconfig)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263640" y="3794760"/>
            <a:ext cx="5532120" cy="2377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</p:spPr>
      </p:sp>
      <p:pic>
        <p:nvPicPr>
          <p:cNvPr id="23" name="Image 4" descr="/home/claude/imgs/trim_img-011-00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00800" y="3886200"/>
            <a:ext cx="5257800" cy="19659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63640" y="58795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 IP · Kali Linux (ip a)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AMBIENTE REALE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di Connettività e Accesso al Servizio Web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superamento dei test di ping bidirezionali ha validato l'interconnessione logica tra le due reti virtuali distinte, confermando poi l'accessibilità del Web Server dal browser di Kali.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7" name="Image 0" descr="/home/claude/icons/termin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5363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68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da Kali verso Metasploitable2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172.16.10.101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429000"/>
            <a:ext cx="4846320" cy="25146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11" name="Image 1" descr="/home/claude/imgs/trim_img-012-00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3520440"/>
            <a:ext cx="4663440" cy="2331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72200" y="219456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2423160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4" name="Image 2" descr="/home/claude/icons/glob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77" y="253631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2468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da Browser Kali Consentito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http://172.16.10.101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46520" y="3429000"/>
            <a:ext cx="4892040" cy="2514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</p:spPr>
      </p:sp>
      <p:pic>
        <p:nvPicPr>
          <p:cNvPr id="18" name="Image 3" descr="/home/claude/imgs/trim_img-012-007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37960" y="3520440"/>
            <a:ext cx="4709160" cy="23317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AUTOMAZIONE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Automazione e Port Scanning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avere una panoramica completa dei servizi attivi su Metasploitable è stata eseguita una scansione con Nmap, usata come riferimento per validare un tool Python sviluppato da zero.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7" name="Image 0" descr="/home/claude/icons/searchplus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4905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Scansione con Nmap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063240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6F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063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FTP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57400" y="3063240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6FA"/>
          </a:solidFill>
          <a:ln/>
        </p:spPr>
      </p:sp>
      <p:sp>
        <p:nvSpPr>
          <p:cNvPr id="12" name="Text 9"/>
          <p:cNvSpPr/>
          <p:nvPr/>
        </p:nvSpPr>
        <p:spPr>
          <a:xfrm>
            <a:off x="2057400" y="3063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SSH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3063240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3063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Telnet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26280" y="3063240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6FA"/>
          </a:solidFill>
          <a:ln/>
        </p:spPr>
      </p:sp>
      <p:sp>
        <p:nvSpPr>
          <p:cNvPr id="16" name="Text 13"/>
          <p:cNvSpPr/>
          <p:nvPr/>
        </p:nvSpPr>
        <p:spPr>
          <a:xfrm>
            <a:off x="4526280" y="30632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SMTP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22960" y="353872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6F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538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DNS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057400" y="353872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6FA"/>
          </a:solidFill>
          <a:ln/>
        </p:spPr>
      </p:sp>
      <p:sp>
        <p:nvSpPr>
          <p:cNvPr id="20" name="Text 17"/>
          <p:cNvSpPr/>
          <p:nvPr/>
        </p:nvSpPr>
        <p:spPr>
          <a:xfrm>
            <a:off x="2057400" y="3538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HTTP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91840" y="353872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6FA"/>
          </a:solidFill>
          <a:ln/>
        </p:spPr>
      </p:sp>
      <p:sp>
        <p:nvSpPr>
          <p:cNvPr id="22" name="Text 19"/>
          <p:cNvSpPr/>
          <p:nvPr/>
        </p:nvSpPr>
        <p:spPr>
          <a:xfrm>
            <a:off x="3291840" y="3538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3306 MySQL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26280" y="353872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6FA"/>
          </a:solidFill>
          <a:ln/>
        </p:spPr>
      </p:sp>
      <p:sp>
        <p:nvSpPr>
          <p:cNvPr id="24" name="Text 21"/>
          <p:cNvSpPr/>
          <p:nvPr/>
        </p:nvSpPr>
        <p:spPr>
          <a:xfrm>
            <a:off x="4526280" y="3538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8180 Tomcat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2296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scansione ha individuato numerose porte aperte: Metasploitable espone intenzionalmente molti servizi vulnerabili. Una scansione più dettagliata (flag -sV) ha mostrato anche tipo di servizio e versione.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2960" y="5074920"/>
            <a:ext cx="4846320" cy="9144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27" name="Image 1" descr="/home/claude/imgs/trim_img-013-00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5138928"/>
            <a:ext cx="4663440" cy="786384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172200" y="214884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0A1930"/>
          </a:solidFill>
          <a:ln/>
          <a:effectLst>
            <a:outerShdw sx="100000" sy="100000" kx="0" ky="0" algn="bl" rotWithShape="0" blurRad="101600" dist="38100" dir="2700000">
              <a:srgbClr val="0A193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46520" y="237744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30" name="Image 2" descr="/home/claude/icons/cod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77" y="2490597"/>
            <a:ext cx="276606" cy="27660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086600" y="2423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scansione_porte.py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446520" y="29718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da zero sfruttando esclusivamente la libreria nativa socket: effettua connessioni TCP mirate su un pool di porte e le classifica istantaneamente come APERTA o CHIUSA.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446520" y="3840480"/>
            <a:ext cx="489204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</p:spPr>
      </p:sp>
      <p:pic>
        <p:nvPicPr>
          <p:cNvPr id="34" name="Image 3" descr="/home/claude/imgs/trim_img-014-010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37960" y="3931920"/>
            <a:ext cx="4709160" cy="19202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AUTOMAZIONE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Codice Sorgente: scansione_porte.py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linea con i requisiti della traccia, è stato sviluppato da zero un programma Python sfruttando esclusivamente la libreria nativa socket. Il tool effettua connessioni TCP mirate su un pool di porte e le classifica istantaneamente come APERTA o CHIUSA.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0" descr="/home/claude/icons/che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37398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675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Libreria nativa socket, nessuna dipendenza esterna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224528"/>
            <a:ext cx="365760" cy="3657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9" name="Image 1" descr="/home/claude/icons/che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30682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2428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di 2 secondi per connessione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4791456"/>
            <a:ext cx="365760" cy="36576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2" name="Image 2" descr="/home/claude/icons/chec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87375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48097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classificato: APERTA / CHIUSA o non raggiungibile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89320" y="146304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  <a:effectLst>
            <a:outerShdw sx="100000" sy="100000" kx="0" ky="0" algn="bl" rotWithShape="0" blurRad="101600" dist="38100" dir="2700000">
              <a:srgbClr val="0A1930">
                <a:alpha val="30000"/>
              </a:srgbClr>
            </a:outerShdw>
          </a:effectLst>
        </p:spPr>
      </p:sp>
      <p:pic>
        <p:nvPicPr>
          <p:cNvPr id="15" name="Image 3" descr="/home/claude/imgs/trim_img-014-00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1600200"/>
            <a:ext cx="5257800" cy="44348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SICUREZZA APPLICATIVA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Codice Sorgente: test_verbi_http.py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script Python aggiuntivo invia una richiesta OPTIONS al server sul percorso specificato. OPTIONS è il metodo standard HTTP per chiedere al server quali verbi sono abilitati su un determinato percorso: il server risponde normalmente con un header Allow contenente la lista dei metodi permessi.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029200" cy="1508760"/>
          </a:xfrm>
          <a:prstGeom prst="roundRect">
            <a:avLst>
              <a:gd name="adj" fmla="val 5455"/>
            </a:avLst>
          </a:prstGeom>
          <a:solidFill>
            <a:srgbClr val="1331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950208"/>
            <a:ext cx="457200" cy="45720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7" name="Image 0" descr="/home/claude/icons/glob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405307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931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· POST · PUT · DELETE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71600" y="4251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 HTTP testati contro il Web Server nella DMZ.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1463040"/>
            <a:ext cx="5623560" cy="4709160"/>
          </a:xfrm>
          <a:prstGeom prst="roundRect">
            <a:avLst>
              <a:gd name="adj" fmla="val 1553"/>
            </a:avLst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  <a:effectLst>
            <a:outerShdw sx="100000" sy="100000" kx="0" ky="0" algn="bl" rotWithShape="0" blurRad="101600" dist="38100" dir="2700000">
              <a:srgbClr val="0A1930">
                <a:alpha val="30000"/>
              </a:srgbClr>
            </a:outerShdw>
          </a:effectLst>
        </p:spPr>
      </p:sp>
      <p:pic>
        <p:nvPicPr>
          <p:cNvPr id="11" name="Image 1" descr="/home/claude/imgs/trim_img-016-01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737360"/>
            <a:ext cx="5257800" cy="4160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SICUREZZA APPLICATIVA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Esito del Test su phpMyAdmin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script Python aggiuntivo (test_verbi_http.py) inoltra una richiesta OPTIONS verso la directory /phpMyAdmin/ del Web Server: il metodo standard per chiedere al server quali verbi HTTP sono abilitati su un determinato percorso.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486400" cy="3017520"/>
          </a:xfrm>
          <a:prstGeom prst="roundRect">
            <a:avLst>
              <a:gd name="adj" fmla="val 3030"/>
            </a:avLst>
          </a:prstGeom>
          <a:solidFill>
            <a:srgbClr val="E7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34964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 del Test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il server risponde correttamente, ma senza header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709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L'assenza dell'header Allow indica che Apache è configurato per non esporre deliberatamente la lista dei metodi supportati: una buona pratica di mascheramento delle informazioni contro i tentativi di ricognizione esterni.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1508760"/>
            <a:ext cx="5212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2" name="Image 1" descr="/home/claude/imgs/trim_img-015-01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627632"/>
            <a:ext cx="4937760" cy="2505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0" y="42793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http://172.16.10.101/phpMyAdmin/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4663440"/>
            <a:ext cx="5212080" cy="141732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15" name="Image 2" descr="/home/claude/imgs/trim_img-017-01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7960" y="4754880"/>
            <a:ext cx="4937760" cy="12344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APPROFONDIMENTO BONUS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Subnetting e Segmentazione VLAN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ciascun piano viene assegnata una propria subnet /24, isolata dalle altre tramite VLAN dedicate, per ridurre il dominio di broadcast e limitare la propagazione laterale di eventuali minacce.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94944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920240"/>
                <a:gridCol w="173736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Piano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VLAN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Subnet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terra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60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192.168.60.0/24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piano terra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terra (servizi)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70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192.168.70.0/24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 e servizi condivisi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1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10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192.168.10.0/24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2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20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192.168.20.0/24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3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30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192.168.30.0/24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4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40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192.168.40.0/24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5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50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192.168.50.0/24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DMZ (Web Server)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80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172.16.10.0/24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Isolata dalla LAN interna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 Chiave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818120" y="1965960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8" name="Image 0" descr="/home/claude/icons/ba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0990" y="20688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0" y="1947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Contenimento delle Minacce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412480" y="225856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Limitazione rigorosa del movimento laterale di attacchi o malware tra i piani.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18120" y="3291840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2" name="Image 1" descr="/home/claude/icons/networ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990" y="339471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0" y="32735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Ottimizzate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412480" y="358444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riduzione dei domini di broadcast e del traffico non necessario.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818120" y="4617720"/>
            <a:ext cx="457200" cy="45720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6" name="Image 2" descr="/home/claude/icons/sitemap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472059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0" y="45994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Centralizzato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412480" y="491032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sul Router Centrale per governare le comunicazioni inter-VLAN.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DIFESA IN PROFONDITÀ · VLAN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Distribuzione Strategica degli IDS/IPS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schema con VLAN, i tre IDS/IPS sono distribuiti secondo una logica di difesa in profondità: controlli attivi (in-line) e passivi (SPAN) garantiscono ridondanza e copertura sia del traffico in ingresso sia di quello già interno.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5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0" y="2514600"/>
            <a:ext cx="594360" cy="59436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8" name="Image 0" descr="/home/claude/icons/shiel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4131" y="2648331"/>
            <a:ext cx="326898" cy="326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Perimetro Esterno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3538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tra firewall perimetrale e router centrale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4672" y="41148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Blocca attivamente le minacce provenienti da Internet prima che raggiungano la rete interna.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23317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24505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5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7086600" y="2514600"/>
            <a:ext cx="594360" cy="59436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15" name="Image 1" descr="/home/claude/icons/lo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331" y="2648331"/>
            <a:ext cx="326898" cy="3268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90872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 Rete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90872" y="3538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tra router centrale e switch principale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690872" y="41148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Protegge il traffico interno da minacce che hanno già superato il primo perimetro.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321040" y="2331720"/>
            <a:ext cx="3611880" cy="3794760"/>
          </a:xfrm>
          <a:prstGeom prst="roundRect">
            <a:avLst>
              <a:gd name="adj" fmla="val 253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549640" y="24505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5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10972800" y="2514600"/>
            <a:ext cx="594360" cy="59436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22" name="Image 2" descr="/home/claude/icons/ey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531" y="2648331"/>
            <a:ext cx="326898" cy="3268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77072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Piani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577072" y="3538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(mirroring) sullo switch Piano Terra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577072" y="41148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Analizza passivamente il traffico verso il NAS, senza introdurre latenza — utile per rilevare anomalie.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DIFESA IN PROFONDITÀ · VLAN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Configurazione SPAN sullo Switch Piano Terra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6" name="Image 0" descr="/home/claude/icons/termin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Switch Piano Terra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1 source interface FastEthernet 0/4 both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582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1 destination interface FastEthernet 0/5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22960" y="3154680"/>
            <a:ext cx="4846320" cy="283464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10" name="Image 1" descr="/home/claude/imgs/trim_img-020-01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4400" y="3246120"/>
            <a:ext cx="4663440" cy="2651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72200" y="1554480"/>
            <a:ext cx="5440680" cy="4617720"/>
          </a:xfrm>
          <a:prstGeom prst="roundRect">
            <a:avLst>
              <a:gd name="adj" fmla="val 1980"/>
            </a:avLst>
          </a:prstGeom>
          <a:solidFill>
            <a:srgbClr val="0A1930"/>
          </a:solidFill>
          <a:ln/>
          <a:effectLst>
            <a:outerShdw sx="100000" sy="100000" kx="0" ky="0" algn="bl" rotWithShape="0" blurRad="101600" dist="38100" dir="2700000">
              <a:srgbClr val="0A193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3" name="Image 2" descr="/home/claude/icons/hd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90652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Monitorare il NAS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4652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NAS contiene lo storage centralizzato di tutta l'azienda, assieme a molti dati sensibili: è sicuramente uno dei bersagli più critici dell'intera infrastruttura.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46520" y="3566160"/>
            <a:ext cx="4892040" cy="1280160"/>
          </a:xfrm>
          <a:prstGeom prst="roundRect">
            <a:avLst>
              <a:gd name="adj" fmla="val 5714"/>
            </a:avLst>
          </a:prstGeom>
          <a:solidFill>
            <a:srgbClr val="13315C"/>
          </a:solidFill>
          <a:ln/>
        </p:spPr>
      </p:sp>
      <p:sp>
        <p:nvSpPr>
          <p:cNvPr id="17" name="Shape 12"/>
          <p:cNvSpPr/>
          <p:nvPr/>
        </p:nvSpPr>
        <p:spPr>
          <a:xfrm>
            <a:off x="6675120" y="3767328"/>
            <a:ext cx="457200" cy="457200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18" name="Image 3" descr="/home/claude/icons/shield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90" y="3870198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37033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monitoraggio SPAN passivo permette di prevenire Ransomware e accessi non autorizzati, senza introdurre latenza sul traffico verso lo storage.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446520" y="50749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combinazione di controlli attivi (in-line) e passivi (SPAN) garantisce ridondanza nei controlli di sicurezza e copertura sia del traffico in ingresso sia di quello già interno alla rete.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REALE · FIREWALL OPEN-SOURCE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 delle Policy di Sicurezza su pfSense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38100" dir="2700000">
              <a:srgbClr val="0A193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00784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6" name="Image 0" descr="/home/claude/icons/clou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1813941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7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DHCP (NAT) — Internet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38100" dir="2700000">
              <a:srgbClr val="0A193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00784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1" name="Image 1" descr="/home/claude/icons/building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37" y="1813941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600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16636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7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192.168.10.1 · Rete 192.168.10.0/24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3500" dist="38100" dir="2700000">
              <a:srgbClr val="0A193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700784"/>
            <a:ext cx="502920" cy="502920"/>
          </a:xfrm>
          <a:prstGeom prst="ellipse">
            <a:avLst/>
          </a:prstGeom>
          <a:solidFill>
            <a:srgbClr val="EAF6FA"/>
          </a:solidFill>
          <a:ln/>
        </p:spPr>
      </p:sp>
      <p:pic>
        <p:nvPicPr>
          <p:cNvPr id="16" name="Image 2" descr="/home/claude/icons/server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197" y="1813941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600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(OPT1)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961120" y="1901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7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172.16.10.1 · Rete 172.16.10.0/24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265176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7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icons/chec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293751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28163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Rete LAN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371600" y="312724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Navigazione controllata verso Internet (porte 80/443) e accesso HTTP consentito verso lo specifico IP del Web Server in DMZ.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6172200" y="265176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0A1930"/>
          </a:solidFill>
          <a:ln/>
          <a:effectLst>
            <a:outerShdw sx="100000" sy="100000" kx="0" ky="0" algn="bl" rotWithShape="0" blurRad="101600" dist="38100" dir="2700000">
              <a:srgbClr val="0A19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6" name="Image 4" descr="/home/claude/icons/ban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670" y="293751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95160" y="2816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Rete DMZ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995160" y="3127248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Blocco tassativo del traffico da DMZ a LAN: in caso di compromissione del Web Server, la minaccia resta confinata nella DMZ.</a:t>
            </a:r>
            <a:endParaRPr lang="en-US" sz="1030" dirty="0"/>
          </a:p>
        </p:txBody>
      </p:sp>
      <p:sp>
        <p:nvSpPr>
          <p:cNvPr id="29" name="Text 22"/>
          <p:cNvSpPr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passaggio della topologia in un contesto reale è stato consolidato con il firewall open-source pfSense, strutturando 3 interfacce e 3 regole specifiche di filtraggio, verificate nelle pagine seguenti.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REALE · PFSENSE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Regole Firewall Applicate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4526280"/>
          </a:xfrm>
          <a:prstGeom prst="roundRect">
            <a:avLst>
              <a:gd name="adj" fmla="val 1818"/>
            </a:avLst>
          </a:prstGeom>
          <a:solidFill>
            <a:srgbClr val="FBFC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 / Rules / LAN</a:t>
            </a:r>
            <a:endParaRPr lang="en-US" sz="1300" dirty="0"/>
          </a:p>
        </p:txBody>
      </p:sp>
      <p:pic>
        <p:nvPicPr>
          <p:cNvPr id="6" name="Image 0" descr="/home/claude/imgs/trim_img-022-0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057400"/>
            <a:ext cx="5074920" cy="2606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75488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Navigazione Web Internet, Accesso a DMZ - HTTP, Default allow LAN to any rule.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532120" cy="4526280"/>
          </a:xfrm>
          <a:prstGeom prst="roundRect">
            <a:avLst>
              <a:gd name="adj" fmla="val 1818"/>
            </a:avLst>
          </a:prstGeom>
          <a:solidFill>
            <a:srgbClr val="FBFCF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38100" dir="2700000">
              <a:srgbClr val="0A193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6916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 / Rules / DMZ</a:t>
            </a:r>
            <a:endParaRPr lang="en-US" sz="1300" dirty="0"/>
          </a:p>
        </p:txBody>
      </p:sp>
      <p:pic>
        <p:nvPicPr>
          <p:cNvPr id="10" name="Image 1" descr="/home/claude/imgs/trim_img-022-0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2057400"/>
            <a:ext cx="5074920" cy="2606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475488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Blocco Traffico da DMZ a LAN — regola tassativa di separazione.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8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REALE · PFSENSE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 di Connettività da Kali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1600200"/>
        </p:xfrm>
        <a:graphic>
          <a:graphicData uri="http://schemas.openxmlformats.org/drawingml/2006/table">
            <a:tbl>
              <a:tblPr/>
              <a:tblGrid>
                <a:gridCol w="3931920"/>
                <a:gridCol w="2743200"/>
                <a:gridCol w="4389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Comando (da Kali)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Risultato Atteso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Verifica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 -c 4 192.168.10.1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0% packet loss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</a:rPr>
                        <a:t>Kali raggiunge pfSense</a:t>
                      </a:r>
                      <a:endParaRPr lang="en-US" sz="97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 -c 4 172.16.10.101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0% packet loss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</a:rPr>
                        <a:t>Kali raggiunge Web Server</a:t>
                      </a:r>
                      <a:endParaRPr lang="en-US" sz="97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nmap -p 80 172.16.10.101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80/tcp open http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</a:rPr>
                        <a:t>Porta 80 aperta in DMZ</a:t>
                      </a:r>
                      <a:endParaRPr lang="en-US" sz="97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 192.168.10.102 (da Meta)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0582A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 packet loss</a:t>
                      </a:r>
                      <a:endParaRPr lang="en-US" sz="97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5B7083"/>
                          </a:solidFill>
                        </a:rPr>
                        <a:t>DMZ isolata dalla LAN</a:t>
                      </a:r>
                      <a:endParaRPr lang="en-US" sz="97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29000"/>
            <a:ext cx="361188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</p:spPr>
      </p:sp>
      <p:pic>
        <p:nvPicPr>
          <p:cNvPr id="6" name="Image 0" descr="/home/claude/imgs/trim_img-024-0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520440"/>
            <a:ext cx="342900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4681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da Kali · porta 80 aperta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343400" y="3429000"/>
            <a:ext cx="361188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</p:spPr>
      </p:sp>
      <p:pic>
        <p:nvPicPr>
          <p:cNvPr id="9" name="Image 1" descr="/home/claude/imgs/trim_img-024-01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3520440"/>
            <a:ext cx="3429000" cy="1920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43400" y="54681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da Kali verso Metasploitable2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8138160" y="3429000"/>
            <a:ext cx="3611880" cy="2331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670"/>
            </a:solidFill>
            <a:prstDash val="solid"/>
          </a:ln>
        </p:spPr>
      </p:sp>
      <p:pic>
        <p:nvPicPr>
          <p:cNvPr id="12" name="Image 2" descr="/home/claude/imgs/trim_img-024-019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3520440"/>
            <a:ext cx="3429000" cy="19202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38160" y="54681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da Metasploitable2 verso Kali · 100% loss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Buildweek 1 · Team 2 · Compagnia Theta S.p.A.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Un'infrastruttura sicura, testata e pronta a crescere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423160"/>
            <a:ext cx="621792" cy="621792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6" name="Image 0" descr="/home/claude/icons/shiel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183" y="2563063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Perimetrale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97280" y="388620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all'architettura con DMZ isolata e al firewalling reale con pfSense, anche in caso di attacco al Web Server i dati interni e i PC dei dipendenti restano protetti.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423160"/>
            <a:ext cx="621792" cy="621792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11" name="Image 1" descr="/home/claude/icons/che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063" y="2563063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Affidabilità e Controllo Totale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388620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 hanno confermato una stabilità di rete al 100% (0% di pacchetti persi verso il NAS); script Python e audit con Kali Linux hanno validato l'efficacia delle difese.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21488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38100" dir="2700000">
              <a:srgbClr val="0A193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423160"/>
            <a:ext cx="621792" cy="621792"/>
          </a:xfrm>
          <a:prstGeom prst="ellipse">
            <a:avLst/>
          </a:prstGeom>
          <a:solidFill>
            <a:srgbClr val="0A1930"/>
          </a:solidFill>
          <a:ln/>
        </p:spPr>
      </p:sp>
      <p:pic>
        <p:nvPicPr>
          <p:cNvPr id="16" name="Image 2" descr="/home/claude/icons/expan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943" y="256306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200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21040" y="388620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L'infrastruttura è già predisposta per l'evoluzione verso una segmentazione VLAN per piano, garantendo prestazioni ottimali e isolamento dei guasti.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Compagnia Theta S.p.A.  ·  Buildweek 1 — Team 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Progettazione, Testing e Sicurezza Infrastrutturale</dc:title>
  <dc:subject>PptxGenJS Presentation</dc:subject>
  <dc:creator>Compagnia Theta S.p.A.</dc:creator>
  <cp:lastModifiedBy>Compagnia Theta S.p.A.</cp:lastModifiedBy>
  <cp:revision>1</cp:revision>
  <dcterms:created xsi:type="dcterms:W3CDTF">2026-07-03T08:13:25Z</dcterms:created>
  <dcterms:modified xsi:type="dcterms:W3CDTF">2026-07-03T08:13:25Z</dcterms:modified>
</cp:coreProperties>
</file>